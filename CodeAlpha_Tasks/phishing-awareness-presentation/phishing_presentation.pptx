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73" r:id="rId7"/>
    <p:sldId id="262" r:id="rId8"/>
    <p:sldId id="274" r:id="rId9"/>
    <p:sldId id="275" r:id="rId10"/>
    <p:sldId id="266" r:id="rId11"/>
    <p:sldId id="271" r:id="rId12"/>
    <p:sldId id="265" r:id="rId13"/>
    <p:sldId id="263" r:id="rId14"/>
    <p:sldId id="264" r:id="rId15"/>
    <p:sldId id="270" r:id="rId16"/>
  </p:sldIdLst>
  <p:sldSz cx="18288000" cy="10287000"/>
  <p:notesSz cx="6858000" cy="9144000"/>
  <p:embeddedFontLst>
    <p:embeddedFont>
      <p:font typeface="Alatsi" panose="020B0604020202020204" charset="0"/>
      <p:regular r:id="rId17"/>
    </p:embeddedFont>
    <p:embeddedFont>
      <p:font typeface="Open Sans 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68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45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2T13:51:55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24575,'723'0'0,"-696"1"0,-1 1 0,0 1 0,0 1 0,0 2 0,-1 0 0,0 2 0,0 1 0,-1 1 0,44 24 0,-54-27 0,0 0 0,1-1 0,0 0 0,0-1 0,0-1 0,1 0 0,0-1 0,16 1 0,19-2 0,61-4 0,35 1 0,-123 5 0,44 11 0,-42-9 0,32 5 0,87-5 0,-241-33 0,85 26 0,0-1 0,0-1 0,0 0 0,1 0 0,-1-1 0,1 0 0,0-1 0,-16-10 0,14 7 0,0 0 0,0 1 0,-1 0 0,1 1 0,-1 0 0,-1 1 0,1 0 0,-1 2 0,0-1 0,0 2 0,0 0 0,0 0 0,-15 1 0,10 1 0,-1 0 0,1 1 0,0 1 0,0 1 0,-37 10 0,22-5 0,1 0 0,-1-3 0,0 0 0,-60-1 0,65-2 0,1 1 0,-51 12 0,46-7 0,-54 4 0,-283-9 0,190-5 0,143 3 0,14 1 0,-36-4 0,54 2 0,0 0 0,1-1 0,-1 0 0,0 0 0,1-1 0,-1 1 0,1-1 0,-1 0 0,1 0 0,0 0 0,0-1 0,0 1 0,-6-6 0,9 7 0,-1 0 0,1-1 0,0 1 0,-1 0 0,1-1 0,0 1 0,0-1 0,0 1 0,0-1 0,0 0 0,0 0 0,0 1 0,1-1 0,-1 0 0,1 0 0,-1 0 0,1 0 0,-1 1 0,1-1 0,0 0 0,0 0 0,0 0 0,0 0 0,1 0 0,-1 0 0,0 0 0,1 0 0,-1 1 0,1-1 0,0 0 0,0 0 0,-1 1 0,1-1 0,3-3 0,-1 2 0,0 0 0,1-1 0,0 1 0,0 0 0,0 1 0,0-1 0,0 1 0,0 0 0,1 0 0,-1 0 0,1 0 0,-1 1 0,6-1 0,34-4 0,0 2 0,0 1 0,78 8 0,-27-2 0,933-1 0,-667-3 0,-371 2 0,1 2 0,-1-1 0,1 1 0,-16 7 0,8-3 0,-32 12 0,-34 12 0,-107 34 0,172-58 0,0-2 0,-1 0 0,0-1 0,-35 2 0,-78-5 0,-5 0 0,115 2 0,-1 1 0,-24 8 0,23-6 0,-35 6 0,-46-5 0,-119-8 0,93-1 0,105 2 0,18 0 0,15 0 0,997 0 0,-989 0-136,0-1-1,1 0 1,-1-1-1,0-1 1,-1 0-1,1-1 1,0-1-1,-1 0 0,22-12 1,-15 3-6690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2T13:52:01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27 106 24575,'93'-2'0,"107"5"0,-198-3 0,1 0 0,-1 1 0,1-1 0,-1 1 0,0 0 0,1-1 0,-1 1 0,0 0 0,1 0 0,-1 0 0,0 1 0,3 1 0,-5-2 0,1-1 0,-1 1 0,1 0 0,-1 0 0,1-1 0,-1 1 0,0 0 0,1 0 0,-1 0 0,0 0 0,1 0 0,-1-1 0,0 1 0,0 0 0,0 0 0,0 0 0,0 0 0,0 0 0,0 0 0,0 0 0,-1 0 0,1-1 0,0 1 0,0 0 0,-1 0 0,1 0 0,0 0 0,-1 0 0,1-1 0,-1 1 0,1 0 0,-1-1 0,0 1 0,1 0 0,-2 0 0,-4 7 0,-1-1 0,-1-1 0,1 1 0,-1-1 0,0-1 0,-1 1 0,1-2 0,-16 8 0,-78 25 0,102-36 0,-30 7 0,0-1 0,-1-1 0,-41 2 0,449-13 0,-216 7 0,-118-2 0,0-1 0,83-14 0,-60 4 0,1 2 0,0 4 0,71 4 0,-103-1 0,1-1 0,56-13 0,-49 7 0,47-2 0,70 10 0,18-1 0,-174 2 0,1-1 0,-1 1 0,0-1 0,0-1 0,0 1 0,1 0 0,-1-1 0,-1 0 0,1 0 0,0 0 0,0-1 0,-1 1 0,1-1 0,-1 0 0,0 0 0,4-5 0,-5 6 0,0-1 0,0 0 0,0 0 0,-1 0 0,1 0 0,-1 0 0,0 0 0,0 0 0,0 0 0,0-1 0,0 1 0,-1 0 0,0-1 0,1 1 0,-1 0 0,0-1 0,-1 1 0,1 0 0,-1-1 0,1 1 0,-3-6 0,1 6 0,1-1 0,-1 1 0,0 0 0,-1 0 0,1-1 0,0 2 0,-1-1 0,0 0 0,0 0 0,0 1 0,0-1 0,0 1 0,0 0 0,0 0 0,-1 0 0,1 1 0,-1-1 0,0 1 0,1 0 0,-1 0 0,-4-1 0,-10-1 0,0 0 0,0 1 0,-19 1 0,36 1 0,-18 0-455,0-2 0,-24-3 0,13-3-6371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2T13:51:43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94 24575,'3431'0'0,"-3394"-2"0,1-2 0,48-11 0,-41 7 0,45-3 0,-16 7 0,105 7 0,-176-3 0,1 1 0,0-1 0,0 1 0,-1 0 0,1 0 0,-1 0 0,1 0 0,0 1 0,-1-1 0,0 1 0,1 0 0,-1 0 0,0 0 0,0 0 0,0 1 0,-1-1 0,1 1 0,0 0 0,-1-1 0,0 1 0,1 1 0,-1-1 0,-1 0 0,1 0 0,0 1 0,-1-1 0,1 1 0,-1-1 0,0 1 0,-1 0 0,1-1 0,0 1 0,-1 0 0,0 0 0,0-1 0,0 1 0,0 0 0,-1 0 0,0-1 0,1 1 0,-1 0 0,0-1 0,-1 1 0,1-1 0,-1 1 0,1-1 0,-1 0 0,-3 4 0,-1 1 0,-1-1 0,1-1 0,-1 1 0,-1-1 0,1 0 0,-1-1 0,0 1 0,-1-2 0,1 1 0,-13 4 0,-8 2 0,-57 13 0,39-16 0,0-3 0,0-1 0,0-3 0,-48-4 0,9 1 0,-1039 0 0,599 3 0,500-2 0,0-2 0,1-1 0,-35-9 0,30 6 0,-58-7 0,-282 11 0,191 5 0,85 0 0,-107-5 0,178-1 0,-45-11 0,45 8 0,-38-5 0,-42 5 0,-120 7 0,87 3 0,126-3 0,0 0 0,-1-1 0,1 0 0,-17-4 0,24 4 0,0 0 0,0 0 0,0 0 0,0-1 0,0 1 0,0-1 0,0 0 0,1 0 0,-1 0 0,1 0 0,-1 0 0,1-1 0,0 1 0,0-1 0,0 0 0,0 1 0,0-1 0,-2-6 0,1 3 0,1 0 0,0 0 0,1 0 0,-1 0 0,1 0 0,0 0 0,1-1 0,-1 1 0,1 0 0,1-1 0,0-9 0,0 13 0,0-1 0,0 0 0,0 1 0,1-1 0,-1 1 0,1-1 0,0 1 0,0-1 0,0 1 0,0 0 0,0 0 0,1 0 0,-1 1 0,1-1 0,0 0 0,0 1 0,0 0 0,0 0 0,0 0 0,5-3 0,3 1 0,0 0 0,0 1 0,0 0 0,0 1 0,1 0 0,20-1 0,74 6 0,-61 0 0,766 2 0,-476-6 0,5 1 0,-315 1 0,1 2 0,0 1 0,33 9 0,-29-6 0,58 7 0,282-11 0,-190-5 0,-153 3 0,0 2 0,1 1 0,26 8 0,-22-5 0,54 6 0,32-11 0,-74-3 0,0 3 0,0 1 0,44 9 0,-29-1 0,0-3 0,66 1 0,122-9 0,-101-2 0,-142 2 0,3-1 0,0 1 0,0 1 0,0-1 0,0 1 0,-1 0 0,1 0 0,7 3 0,-13-3 0,-1-1 0,1 0 0,-1 0 0,0 0 0,1 0 0,-1 0 0,1 0 0,-1 1 0,0-1 0,1 0 0,-1 0 0,0 1 0,1-1 0,-1 0 0,0 0 0,0 1 0,1-1 0,-1 0 0,0 1 0,0-1 0,0 0 0,1 1 0,-1-1 0,0 1 0,0-1 0,0 0 0,0 1 0,0-1 0,0 1 0,1-1 0,-1 0 0,0 1 0,0-1 0,0 1 0,-1-1 0,1 0 0,0 1 0,0-1 0,0 1 0,0-1 0,0 0 0,0 1 0,-1-1 0,1 1 0,0-1 0,0 0 0,0 1 0,-1-1 0,1 0 0,0 0 0,-1 1 0,1-1 0,0 0 0,0 1 0,-1-1 0,1 0 0,-1 0 0,-23 15 0,22-14 0,-25 12 0,-146 66 0,148-70 0,0-2 0,-1 0 0,0-1 0,0-2 0,-32 2 0,-265-5 0,136-4 0,156 3 0,-103-3 0,114 0 0,0 0 0,0 0 0,0-2 0,-31-12 0,14 4 0,-1 1 0,-1 1 0,-59-7 0,12 2 0,37 7 0,-69-5 0,-120-13 0,155 15 0,-63-11 0,94 13 0,0 2 0,-70-1 0,-106 9 0,90 3 0,-479-3 0,1069 0 0,-396-3 0,89-15 0,38-3 0,342 20 0,-248 3 0,867-2 0,-1119-2 0,1 0 0,0-2 0,33-10 0,-29 7 0,58-7 0,204 12 0,-164 4 0,-124-3 0,-1 2 0,1-1 0,0 0 0,-1 0 0,1 1 0,-1 0 0,1 0 0,6 3 0,-10-4 0,0 0 0,1 0 0,-1 0 0,0 1 0,1-1 0,-1 0 0,0 0 0,0 1 0,1-1 0,-1 0 0,0 1 0,0-1 0,1 0 0,-1 1 0,0-1 0,0 0 0,0 1 0,0-1 0,0 0 0,1 1 0,-1-1 0,0 1 0,0-1 0,0 0 0,0 1 0,0-1 0,0 0 0,0 1 0,-1 0 0,1 0 0,-1 1 0,0-1 0,1 0 0,-1 1 0,0-1 0,0 0 0,0 0 0,0 0 0,-1 0 0,1 0 0,-2 2 0,-20 13 0,-50 25 0,45-26 0,-33 22 0,9 4 0,32-23 0,-2-2 0,-38 23 0,-5-3 0,35-18 0,-1-1 0,-61 23 0,65-34 0,0-1 0,0-1 0,-1-2 0,0 0 0,-40-4 0,38 2 0,6-3 0,-1 0 0,1-2 0,0 0 0,0-2 0,1 0 0,-32-16 0,-1 1 0,-46-20 0,91 36 0,0-1 0,1 0 0,0 0 0,1-1 0,-1-1 0,-11-14 0,-19-15 0,11 13 0,9 7 0,-38-25 0,49 38 0,1 0 0,-1 1 0,0 0 0,0 0 0,0 1 0,-1 0 0,1 1 0,-14-2 0,-51-1 0,-109 7 0,60 2 0,-681-4 0,760 2 0,1 3 0,-65 14 0,49-7 0,-17 5 0,-18 4 0,45-11 0,-1 2 0,-78 32 0,-9 2 0,110-39 0,0-1 0,-1-1 0,-33 2 0,-208-7 0,132-2 0,127 0 0,12-3 0,13-5 0,-1 5 0,0 0 0,0 1 0,1 0 0,18-1 0,17-5 0,4-1 0,0 2 0,71-3 0,110 9 0,-185 4 0,415-1 0,-429-2 0,-1-1 0,55-14 0,-48 9 0,51-4 0,278 9 0,-191 5 0,1814-2 0,-1988 0 0,0-1 0,0 1 0,1 0 0,-1 1 0,0 0 0,0 0 0,0 0 0,10 4 0,-15-5 0,-1 0 0,1 0 0,-1 0 0,1 1 0,-1-1 0,1 0 0,-1 1 0,0-1 0,1 0 0,-1 1 0,1-1 0,-1 1 0,0-1 0,1 0 0,-1 1 0,0-1 0,0 1 0,1-1 0,-1 1 0,0-1 0,0 1 0,0-1 0,0 1 0,0-1 0,0 1 0,0 0 0,1-1 0,-1 1 0,-1-1 0,1 1 0,0-1 0,0 1 0,0-1 0,0 1 0,0-1 0,0 1 0,-1-1 0,1 1 0,0-1 0,0 1 0,-1-1 0,1 1 0,0-1 0,-1 0 0,1 1 0,0-1 0,-1 1 0,1-1 0,-1 0 0,0 1 0,-25 19 0,25-19 0,-22 12 0,-1 0 0,0-2 0,-35 12 0,-83 18 0,35-11 0,-8 10 0,71-23 0,-1-2 0,0-1 0,-90 13 0,-110-24 0,144-6 0,90 3 0,0-1 0,0 0 0,0-1 0,0 0 0,0-1 0,0 0 0,0-1 0,1 0 0,0-1 0,0 0 0,0 0 0,0-1 0,1 0 0,-14-12 0,11 8 0,-1 1 0,-1 1 0,0 1 0,0 0 0,-25-9 0,-79-17 0,70 25 0,0 2 0,0 3 0,-91 5 0,56-1 0,-818 1 0,488-3 0,378-1 0,-1-1 0,-53-13 0,47 7 0,-51-3 0,-143 10 0,307 2 0,4 1 0,135-17 0,-126 3 0,112-1 0,86 14 0,-112 2 0,1649-2-1365,-1783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4448898" y="1947223"/>
            <a:ext cx="14296301" cy="3744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50"/>
              </a:lnSpc>
            </a:pPr>
            <a:r>
              <a:rPr lang="en-US" sz="12000" dirty="0" smtClean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Phishing </a:t>
            </a:r>
            <a:r>
              <a:rPr lang="en-US" sz="12000" dirty="0" smtClean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Awareness Training</a:t>
            </a:r>
            <a:endParaRPr lang="en-US" sz="120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 flipH="1" flipV="1">
            <a:off x="-2971800" y="5787514"/>
            <a:ext cx="71349" cy="1988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endParaRPr lang="en-US" sz="32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  <a:p>
            <a:pPr algn="ctr">
              <a:lnSpc>
                <a:spcPts val="8029"/>
              </a:lnSpc>
            </a:pPr>
            <a:endParaRPr lang="en-US" sz="5735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1125200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5DEF5-D07B-49D2-B846-CBAF5E27AB3D}"/>
              </a:ext>
            </a:extLst>
          </p:cNvPr>
          <p:cNvSpPr txBox="1"/>
          <p:nvPr/>
        </p:nvSpPr>
        <p:spPr>
          <a:xfrm>
            <a:off x="12662138" y="6781728"/>
            <a:ext cx="998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Alatsi" panose="020B0604020202020204" charset="0"/>
              </a:rPr>
              <a:t>Done </a:t>
            </a:r>
            <a:r>
              <a:rPr lang="en-US" sz="2400" dirty="0" smtClean="0">
                <a:latin typeface="Alatsi" panose="020B0604020202020204" charset="0"/>
              </a:rPr>
              <a:t>By: </a:t>
            </a:r>
            <a:r>
              <a:rPr lang="en-US" sz="2400" dirty="0" err="1" smtClean="0">
                <a:latin typeface="Alatsi" panose="020B0604020202020204" charset="0"/>
              </a:rPr>
              <a:t>Shahram</a:t>
            </a:r>
            <a:r>
              <a:rPr lang="en-US" sz="2400" dirty="0" smtClean="0">
                <a:latin typeface="Alatsi" panose="020B0604020202020204" charset="0"/>
              </a:rPr>
              <a:t> </a:t>
            </a:r>
            <a:r>
              <a:rPr lang="en-US" sz="2400" dirty="0" err="1" smtClean="0">
                <a:latin typeface="Alatsi" panose="020B0604020202020204" charset="0"/>
              </a:rPr>
              <a:t>Shahzad</a:t>
            </a:r>
            <a:endParaRPr lang="en-US" sz="2400" dirty="0" smtClean="0">
              <a:latin typeface="Alatsi" panose="020B0604020202020204" charset="0"/>
            </a:endParaRPr>
          </a:p>
          <a:p>
            <a:r>
              <a:rPr lang="en-US" sz="2400" dirty="0" smtClean="0">
                <a:latin typeface="Alatsi" panose="020B0604020202020204" charset="0"/>
              </a:rPr>
              <a:t>For: </a:t>
            </a:r>
            <a:r>
              <a:rPr lang="en-US" sz="2400" dirty="0" err="1" smtClean="0">
                <a:latin typeface="Alatsi" panose="020B0604020202020204" charset="0"/>
              </a:rPr>
              <a:t>CodeAlpha</a:t>
            </a:r>
            <a:endParaRPr lang="en-US" sz="2400" dirty="0">
              <a:latin typeface="Alatsi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-260599" y="9388619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6749632" y="9407669"/>
            <a:ext cx="1153836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701407" y="1503287"/>
            <a:ext cx="12885185" cy="1430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3CBF9-A5A9-4195-847D-E7BF8858C3D3}"/>
              </a:ext>
            </a:extLst>
          </p:cNvPr>
          <p:cNvSpPr txBox="1"/>
          <p:nvPr/>
        </p:nvSpPr>
        <p:spPr>
          <a:xfrm>
            <a:off x="1427340" y="4659322"/>
            <a:ext cx="71052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is the manipulation or tricking of people into revealing confidential information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often through deceptive emails, calls, or messages.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attacks prey on human psychology, creating a false sense of trust.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622A5-538C-407F-89D3-9109F3BC4B7F}"/>
              </a:ext>
            </a:extLst>
          </p:cNvPr>
          <p:cNvSpPr txBox="1"/>
          <p:nvPr/>
        </p:nvSpPr>
        <p:spPr>
          <a:xfrm>
            <a:off x="1415308" y="3931738"/>
            <a:ext cx="119405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latsi" panose="020B0604020202020204" charset="0"/>
              </a:rPr>
              <a:t>What is Social Engineering?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C9E683-F1D9-4CCB-A983-1DA035AA1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049" y="3543300"/>
            <a:ext cx="5077534" cy="49917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Freeform 5"/>
          <p:cNvSpPr/>
          <p:nvPr/>
        </p:nvSpPr>
        <p:spPr>
          <a:xfrm>
            <a:off x="13763625" y="69940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268620" y="9563100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6606527" y="9582150"/>
            <a:ext cx="1169076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030200" y="678878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12126" y="1371466"/>
            <a:ext cx="13180039" cy="136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THE IMPACT OF SOCIAL ENGINEERING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-4504704" y="-16477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9670" y="2895980"/>
            <a:ext cx="10793714" cy="70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2"/>
              </a:lnSpc>
            </a:pPr>
            <a:endParaRPr lang="en-US" sz="418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CC13F-583F-4BF5-9D36-1601FB1C2EE4}"/>
              </a:ext>
            </a:extLst>
          </p:cNvPr>
          <p:cNvSpPr txBox="1"/>
          <p:nvPr/>
        </p:nvSpPr>
        <p:spPr>
          <a:xfrm>
            <a:off x="1905000" y="3607514"/>
            <a:ext cx="117488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is responsible for over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cyberattacks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9B426-3883-4DAF-9FE5-A8129C1F49C1}"/>
              </a:ext>
            </a:extLst>
          </p:cNvPr>
          <p:cNvSpPr txBox="1"/>
          <p:nvPr/>
        </p:nvSpPr>
        <p:spPr>
          <a:xfrm>
            <a:off x="1939792" y="4678213"/>
            <a:ext cx="13605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phishing attack costs an organization an average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$1.6 million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2EF40-7B24-4E4C-A051-477E1EFA96F3}"/>
              </a:ext>
            </a:extLst>
          </p:cNvPr>
          <p:cNvSpPr txBox="1"/>
          <p:nvPr/>
        </p:nvSpPr>
        <p:spPr>
          <a:xfrm>
            <a:off x="1905000" y="5725892"/>
            <a:ext cx="1478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Verizon Data Breach Investigations Report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36% of data breaches involved social engineering techniques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D83017-F86B-4608-9102-341766D0BFCB}"/>
              </a:ext>
            </a:extLst>
          </p:cNvPr>
          <p:cNvSpPr txBox="1"/>
          <p:nvPr/>
        </p:nvSpPr>
        <p:spPr>
          <a:xfrm>
            <a:off x="1942920" y="7265005"/>
            <a:ext cx="124246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84%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consumers say they are less likely to buy from a company that has experienced a breach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TYPES OF SOCIAL ENGINEERING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85685" y="3070231"/>
            <a:ext cx="15516465" cy="5265757"/>
            <a:chOff x="0" y="-63120"/>
            <a:chExt cx="20688620" cy="702101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30580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1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2742037"/>
              <a:ext cx="1473815" cy="1473815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2872617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2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5484075"/>
              <a:ext cx="1473815" cy="1473815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5614654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1697" y="-63120"/>
              <a:ext cx="18976923" cy="690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Human-based Social Engineering: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11697" y="2677140"/>
              <a:ext cx="18976923" cy="690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Computer-based Social Engineering: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11697" y="5417400"/>
              <a:ext cx="18976923" cy="690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Mobile-based Social Engineering: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1085850" y="0"/>
            <a:ext cx="5404" cy="7355034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6" name="Group 2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2C4139-371B-4BB9-A701-74D4E88FAE6E}"/>
              </a:ext>
            </a:extLst>
          </p:cNvPr>
          <p:cNvSpPr txBox="1"/>
          <p:nvPr/>
        </p:nvSpPr>
        <p:spPr>
          <a:xfrm>
            <a:off x="2969457" y="3688187"/>
            <a:ext cx="128896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attackers directly interacting with people to manipulate them into sharing sensitive information. They exploit trust, fear, or authority</a:t>
            </a:r>
            <a:r>
              <a:rPr lang="en-US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48D1E3-F11D-4BD5-A68F-612806CAB06E}"/>
              </a:ext>
            </a:extLst>
          </p:cNvPr>
          <p:cNvSpPr txBox="1"/>
          <p:nvPr/>
        </p:nvSpPr>
        <p:spPr>
          <a:xfrm>
            <a:off x="3005553" y="5623496"/>
            <a:ext cx="135967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use technology, like phishing emails, fake websites, or pop-ups, to deceive victims. They trick users into clicking malicious links, downloading malware, or sharing private information.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AC67D9-DAEB-424F-A1D1-A276133F720A}"/>
              </a:ext>
            </a:extLst>
          </p:cNvPr>
          <p:cNvSpPr txBox="1"/>
          <p:nvPr/>
        </p:nvSpPr>
        <p:spPr>
          <a:xfrm>
            <a:off x="2912308" y="7870265"/>
            <a:ext cx="125111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target individuals through mobile phones, using texts (smishing) or calls (vishing). These messages often appear urgent or enticing to pressure quick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7516" y="1135719"/>
            <a:ext cx="11627497" cy="1430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COMMONLY USED TYPES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673194" y="3268672"/>
            <a:ext cx="6651535" cy="2465844"/>
            <a:chOff x="0" y="0"/>
            <a:chExt cx="8868713" cy="328779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95604" y="133351"/>
              <a:ext cx="7735510" cy="67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endParaRPr lang="en-US" sz="299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550637" y="2559874"/>
            <a:ext cx="4182217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Baiting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673194" y="6685437"/>
            <a:ext cx="6651535" cy="2465844"/>
            <a:chOff x="0" y="0"/>
            <a:chExt cx="8868713" cy="328779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95604" y="133351"/>
              <a:ext cx="7735510" cy="67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endParaRPr lang="en-US" sz="299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50637" y="5986928"/>
            <a:ext cx="5276728" cy="66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Vishing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085086" y="-104525"/>
            <a:ext cx="5404" cy="739396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0" name="Group 2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2058" y="90481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738A8F-0C17-4671-9D73-83471C33E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538" y="3169862"/>
            <a:ext cx="6651312" cy="26154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D41BC72-D8E7-439C-888F-3A00D7501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363" y="6541967"/>
            <a:ext cx="6651312" cy="26093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CF262C5-EE53-440C-BFDD-7106366AB2FD}"/>
              </a:ext>
            </a:extLst>
          </p:cNvPr>
          <p:cNvSpPr txBox="1"/>
          <p:nvPr/>
        </p:nvSpPr>
        <p:spPr>
          <a:xfrm>
            <a:off x="2025765" y="2590979"/>
            <a:ext cx="91440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50" dirty="0">
                <a:latin typeface="Alatsi" panose="020B0604020202020204" charset="0"/>
              </a:rPr>
              <a:t>Phishing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6CE359-D537-42AF-B69A-2BDC7887640A}"/>
              </a:ext>
            </a:extLst>
          </p:cNvPr>
          <p:cNvSpPr txBox="1"/>
          <p:nvPr/>
        </p:nvSpPr>
        <p:spPr>
          <a:xfrm>
            <a:off x="2131464" y="6020622"/>
            <a:ext cx="9144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00" dirty="0">
                <a:latin typeface="Alatsi" panose="020B0604020202020204" charset="0"/>
              </a:rPr>
              <a:t>Pretexting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8B79970-F5CD-4836-9984-2486D78A1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2208" y="3322276"/>
            <a:ext cx="6651312" cy="246299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5E50BA3-C201-418F-9B17-3C78F9474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2733" y="6670397"/>
            <a:ext cx="6651312" cy="24629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58F9CD2-C72E-4D16-964F-57E49C21D142}"/>
              </a:ext>
            </a:extLst>
          </p:cNvPr>
          <p:cNvSpPr txBox="1"/>
          <p:nvPr/>
        </p:nvSpPr>
        <p:spPr>
          <a:xfrm>
            <a:off x="2753473" y="3814939"/>
            <a:ext cx="6129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use fake emails in order to trick the target into sharing their sensitive information.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30FC51-D054-4347-9F42-0831EED344E4}"/>
              </a:ext>
            </a:extLst>
          </p:cNvPr>
          <p:cNvSpPr txBox="1"/>
          <p:nvPr/>
        </p:nvSpPr>
        <p:spPr>
          <a:xfrm>
            <a:off x="10194897" y="3730781"/>
            <a:ext cx="60357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uses tempting offers to lure in greedy users and gathers their information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82DAB5-D6B2-45CD-9E14-BE90C4B89F00}"/>
              </a:ext>
            </a:extLst>
          </p:cNvPr>
          <p:cNvSpPr txBox="1"/>
          <p:nvPr/>
        </p:nvSpPr>
        <p:spPr>
          <a:xfrm>
            <a:off x="2820100" y="6968118"/>
            <a:ext cx="57106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creates fake scenarios in order to befool the target and gains sensitive information from them.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49A22C-42BE-41FC-8B38-E6D013DE43C4}"/>
              </a:ext>
            </a:extLst>
          </p:cNvPr>
          <p:cNvSpPr txBox="1"/>
          <p:nvPr/>
        </p:nvSpPr>
        <p:spPr>
          <a:xfrm>
            <a:off x="10135559" y="7059222"/>
            <a:ext cx="57802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uses fraudulent phone calls by using fake voice and impersonates a trusted entity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0CB601-42E8-46AB-BDD0-A6A0F642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2100"/>
            <a:ext cx="7169517" cy="140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01BA5E-71C1-42E5-9035-B0637FFC7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9206486"/>
            <a:ext cx="11754107" cy="115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6C1E3-24AC-4B21-B0EC-D12D00561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86200" y="-22860"/>
            <a:ext cx="7315834" cy="2481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28FDDE-8DDF-410A-B0AF-1F03615D7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7353300"/>
            <a:ext cx="7315834" cy="24812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8C16F5-D6E7-47F7-BF85-74D116279D1E}"/>
              </a:ext>
            </a:extLst>
          </p:cNvPr>
          <p:cNvSpPr txBox="1"/>
          <p:nvPr/>
        </p:nvSpPr>
        <p:spPr>
          <a:xfrm>
            <a:off x="4115117" y="1179374"/>
            <a:ext cx="11049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Alatsi" panose="020B0604020202020204" charset="0"/>
              </a:rPr>
              <a:t>EMOTIONS COMMONLY TARGETED BY              SOCIAL ENGINEERS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9DD295-B2E1-4634-9E9C-9C3A63D4D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9600" y="-114300"/>
            <a:ext cx="1560711" cy="1780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0A2828-7039-4337-8844-588695CE9DF9}"/>
              </a:ext>
            </a:extLst>
          </p:cNvPr>
          <p:cNvSpPr txBox="1"/>
          <p:nvPr/>
        </p:nvSpPr>
        <p:spPr>
          <a:xfrm>
            <a:off x="1611947" y="3747404"/>
            <a:ext cx="135826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"Your account has been hacked! Act now to secure it.”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"Congratulations! You’ve won $1,000,000. Click to claim.”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Curiosity: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 won’t believe what’s in this file!”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Helpfulness: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"Can you please share your Wi-Fi password? My internet’s not working.”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"Immediate action required—your bank account will be frozen!"</a:t>
            </a:r>
          </a:p>
        </p:txBody>
      </p:sp>
    </p:spTree>
    <p:extLst>
      <p:ext uri="{BB962C8B-B14F-4D97-AF65-F5344CB8AC3E}">
        <p14:creationId xmlns:p14="http://schemas.microsoft.com/office/powerpoint/2010/main" val="282951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REAL-WORLD EXAMPLE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0200" y="3091269"/>
            <a:ext cx="10846841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When Social Engineering Broke Twitter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764167" y="582762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6844665" y="9080317"/>
            <a:ext cx="1169076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8" name="Group 1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-2628900" y="-144908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DDD668-92BC-4162-A4EB-21515F26D62A}"/>
              </a:ext>
            </a:extLst>
          </p:cNvPr>
          <p:cNvSpPr txBox="1"/>
          <p:nvPr/>
        </p:nvSpPr>
        <p:spPr>
          <a:xfrm>
            <a:off x="1059180" y="4036324"/>
            <a:ext cx="9601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2020, hackers sweet-talked their way into Twitter employees’ accounts using phishing tricks.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hijacked VIP accounts, including Elon Musk, Barack Obama, and Bill Gates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hackers tweeted, “Send us Bitcoin, and we’ll double it!”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Result? Over $120,000 stolen, proving even tech giants can fall for social engineering!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1741FB-B9BA-4E09-9C24-AE103839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3920907"/>
            <a:ext cx="6858777" cy="4475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8A82-8834-48AB-9A1B-B914BCBC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17" y="9182100"/>
            <a:ext cx="7169517" cy="140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3841CD-E270-4E73-8EF9-9922BC7C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9206486"/>
            <a:ext cx="11754107" cy="115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108374-8CE3-49C2-87D6-703E12F3344C}"/>
              </a:ext>
            </a:extLst>
          </p:cNvPr>
          <p:cNvSpPr txBox="1"/>
          <p:nvPr/>
        </p:nvSpPr>
        <p:spPr>
          <a:xfrm>
            <a:off x="1295400" y="3887153"/>
            <a:ext cx="14249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Stolen data can be used to open bank accounts, take loans, or commit fraud under your name.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drain your bank account or make unauthorized purchases.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Blackmail or Extortion: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can be used to threaten victims for money or compliance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Espionage: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sell stolen business secrets or customer data to competitors.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35CDC-D994-4E16-8B5C-20251BCC2D80}"/>
              </a:ext>
            </a:extLst>
          </p:cNvPr>
          <p:cNvSpPr txBox="1"/>
          <p:nvPr/>
        </p:nvSpPr>
        <p:spPr>
          <a:xfrm>
            <a:off x="1600200" y="1575925"/>
            <a:ext cx="14478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Alatsi" panose="020B0604020202020204" charset="0"/>
                <a:cs typeface="Times New Roman" panose="02020603050405020304" pitchFamily="18" charset="0"/>
              </a:rPr>
              <a:t>HOW STOLEN DATA CAN BE USED AFTER SOCIAL ENGINEERING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C21191-CF31-4AB5-B774-CA47C060A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43400" y="-552632"/>
            <a:ext cx="7315834" cy="2481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8546AF-6E44-4BA8-B8EC-F92E4CCC6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283" y="6806173"/>
            <a:ext cx="7315834" cy="24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7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7ECC1F-DB9E-47A3-986E-39593ED694C7}"/>
              </a:ext>
            </a:extLst>
          </p:cNvPr>
          <p:cNvSpPr txBox="1"/>
          <p:nvPr/>
        </p:nvSpPr>
        <p:spPr>
          <a:xfrm>
            <a:off x="838200" y="3238500"/>
            <a:ext cx="157734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Skeptical of Unsolicited Requests: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verify the identity of people asking for sensitive information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Double-Check Links and Email Addresses: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over links to see if they lead to legitimate websites.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Multi-Factor Authentication (MFA):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extra layer of security to your accounts.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Educate and Train Employees: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training on phishing and social engineering threats can prevent breaches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Software Up to Date: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your system is protected with the latest security patches.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Strong, Unique Passwords: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using easily guessable passwords and reuse across accounts.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0C9D2-52C4-42B7-940E-7FEB9D0B10B8}"/>
              </a:ext>
            </a:extLst>
          </p:cNvPr>
          <p:cNvSpPr txBox="1"/>
          <p:nvPr/>
        </p:nvSpPr>
        <p:spPr>
          <a:xfrm>
            <a:off x="4152900" y="948332"/>
            <a:ext cx="9982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Alatsi" panose="020B0604020202020204" charset="0"/>
                <a:cs typeface="Times New Roman" panose="02020603050405020304" pitchFamily="18" charset="0"/>
              </a:rPr>
              <a:t>WAYS TO PREVENT SOCIAL ENGINEERING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71C06-15C6-4C0D-B189-9A1375CB2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0" y="-292311"/>
            <a:ext cx="7315834" cy="2481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F24592-28BA-4E12-AD0E-77C7D166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28765"/>
            <a:ext cx="7169517" cy="140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99CDE-24D3-4823-A7BC-B5FAA882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9053151"/>
            <a:ext cx="11754107" cy="1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7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88406" y="4711316"/>
            <a:ext cx="503827" cy="50382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55665" y="4768033"/>
            <a:ext cx="503827" cy="5038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53980" y="866775"/>
            <a:ext cx="13180039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WHAT I</a:t>
            </a:r>
            <a:r>
              <a:rPr lang="en-US" sz="8499" dirty="0" smtClean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DID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3462" y="4313806"/>
            <a:ext cx="5381802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27" name="AutoShape 27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flipV="1">
            <a:off x="1081926" y="-104526"/>
            <a:ext cx="8563" cy="7393863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30" name="Group 3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263762" y="-14586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804788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6A469C-5A6B-4A93-B680-E2C5365FD0C1}"/>
              </a:ext>
            </a:extLst>
          </p:cNvPr>
          <p:cNvSpPr txBox="1"/>
          <p:nvPr/>
        </p:nvSpPr>
        <p:spPr>
          <a:xfrm>
            <a:off x="3523327" y="4732264"/>
            <a:ext cx="53179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Phishing: 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pretending to be legitimate organizations to collect sensitive information.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3B0B6F-C233-4E29-A3A7-CABECDFAE1B7}"/>
              </a:ext>
            </a:extLst>
          </p:cNvPr>
          <p:cNvSpPr txBox="1"/>
          <p:nvPr/>
        </p:nvSpPr>
        <p:spPr>
          <a:xfrm>
            <a:off x="10668000" y="4740359"/>
            <a:ext cx="45641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Smishing: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messages to trick individuals into sharing personal details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2E6B01-8F72-42F7-8804-8B9A6BA6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-114300"/>
            <a:ext cx="1560711" cy="17801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B0A6E8-9059-4887-8422-30C5DF4A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54" y="2476500"/>
            <a:ext cx="14020801" cy="713521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F9097A7-0BE3-493E-8C17-DFEC4F750B21}"/>
              </a:ext>
            </a:extLst>
          </p:cNvPr>
          <p:cNvSpPr/>
          <p:nvPr/>
        </p:nvSpPr>
        <p:spPr>
          <a:xfrm>
            <a:off x="6477000" y="46863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FABE0B-E13D-4895-87E1-785F21446049}"/>
              </a:ext>
            </a:extLst>
          </p:cNvPr>
          <p:cNvSpPr/>
          <p:nvPr/>
        </p:nvSpPr>
        <p:spPr>
          <a:xfrm>
            <a:off x="6134099" y="4850227"/>
            <a:ext cx="2377440" cy="533400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1224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4646F6-D0FD-44F6-A2AB-AA08D8C41015}"/>
              </a:ext>
            </a:extLst>
          </p:cNvPr>
          <p:cNvSpPr/>
          <p:nvPr/>
        </p:nvSpPr>
        <p:spPr>
          <a:xfrm>
            <a:off x="5676899" y="5537739"/>
            <a:ext cx="1645920" cy="293594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1224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20CD9F-FC1F-466E-85B1-DD51EF013140}"/>
              </a:ext>
            </a:extLst>
          </p:cNvPr>
          <p:cNvSpPr/>
          <p:nvPr/>
        </p:nvSpPr>
        <p:spPr>
          <a:xfrm>
            <a:off x="6682739" y="6819265"/>
            <a:ext cx="3657600" cy="533400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1224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36959E-2AC4-4F16-AB3D-3C624B4A579F}"/>
              </a:ext>
            </a:extLst>
          </p:cNvPr>
          <p:cNvSpPr/>
          <p:nvPr/>
        </p:nvSpPr>
        <p:spPr>
          <a:xfrm>
            <a:off x="6408419" y="7447203"/>
            <a:ext cx="4206240" cy="548640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122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3300E-7C4E-41FE-A834-8BFEDF90F0DA}"/>
              </a:ext>
            </a:extLst>
          </p:cNvPr>
          <p:cNvSpPr txBox="1"/>
          <p:nvPr/>
        </p:nvSpPr>
        <p:spPr>
          <a:xfrm>
            <a:off x="6738360" y="476614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Alatsi" panose="020B0604020202020204" charset="0"/>
              </a:rPr>
              <a:t>PHISHING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B28DC1-4CB9-4B76-A32F-CFEFDDFC0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960698" y="5771325"/>
            <a:ext cx="11772902" cy="2302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AFB67A-B5D4-4299-91DD-243F58C78FD2}"/>
              </a:ext>
            </a:extLst>
          </p:cNvPr>
          <p:cNvSpPr txBox="1"/>
          <p:nvPr/>
        </p:nvSpPr>
        <p:spPr>
          <a:xfrm>
            <a:off x="5768339" y="190321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latsi" panose="020B0604020202020204" charset="0"/>
              </a:rPr>
              <a:t>CAN YOU SPOT THE RED FLAGS IN THIS EMAIL ?</a:t>
            </a:r>
          </a:p>
        </p:txBody>
      </p:sp>
    </p:spTree>
    <p:extLst>
      <p:ext uri="{BB962C8B-B14F-4D97-AF65-F5344CB8AC3E}">
        <p14:creationId xmlns:p14="http://schemas.microsoft.com/office/powerpoint/2010/main" val="425767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PHISHING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12257" y="3378226"/>
            <a:ext cx="6450970" cy="2573239"/>
            <a:chOff x="0" y="0"/>
            <a:chExt cx="1699021" cy="6777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9021" cy="677725"/>
            </a:xfrm>
            <a:custGeom>
              <a:avLst/>
              <a:gdLst/>
              <a:ahLst/>
              <a:cxnLst/>
              <a:rect l="l" t="t" r="r" b="b"/>
              <a:pathLst>
                <a:path w="1699021" h="677725">
                  <a:moveTo>
                    <a:pt x="61206" y="0"/>
                  </a:moveTo>
                  <a:lnTo>
                    <a:pt x="1637815" y="0"/>
                  </a:lnTo>
                  <a:cubicBezTo>
                    <a:pt x="1654047" y="0"/>
                    <a:pt x="1669616" y="6448"/>
                    <a:pt x="1681094" y="17927"/>
                  </a:cubicBezTo>
                  <a:cubicBezTo>
                    <a:pt x="1692572" y="29405"/>
                    <a:pt x="1699021" y="44973"/>
                    <a:pt x="1699021" y="61206"/>
                  </a:cubicBezTo>
                  <a:lnTo>
                    <a:pt x="1699021" y="616519"/>
                  </a:lnTo>
                  <a:cubicBezTo>
                    <a:pt x="1699021" y="632752"/>
                    <a:pt x="1692572" y="648320"/>
                    <a:pt x="1681094" y="659799"/>
                  </a:cubicBezTo>
                  <a:cubicBezTo>
                    <a:pt x="1669616" y="671277"/>
                    <a:pt x="1654047" y="677725"/>
                    <a:pt x="1637815" y="677725"/>
                  </a:cubicBezTo>
                  <a:lnTo>
                    <a:pt x="61206" y="677725"/>
                  </a:lnTo>
                  <a:cubicBezTo>
                    <a:pt x="27403" y="677725"/>
                    <a:pt x="0" y="650323"/>
                    <a:pt x="0" y="616519"/>
                  </a:cubicBezTo>
                  <a:lnTo>
                    <a:pt x="0" y="61206"/>
                  </a:lnTo>
                  <a:cubicBezTo>
                    <a:pt x="0" y="44973"/>
                    <a:pt x="6448" y="29405"/>
                    <a:pt x="17927" y="17927"/>
                  </a:cubicBezTo>
                  <a:cubicBezTo>
                    <a:pt x="29405" y="6448"/>
                    <a:pt x="44973" y="0"/>
                    <a:pt x="61206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9021" cy="71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62200" y="2616637"/>
            <a:ext cx="7270416" cy="660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Fake Delivery Notification Email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96602" y="6799604"/>
            <a:ext cx="6450970" cy="2573239"/>
            <a:chOff x="0" y="0"/>
            <a:chExt cx="1699021" cy="6777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9021" cy="677725"/>
            </a:xfrm>
            <a:custGeom>
              <a:avLst/>
              <a:gdLst/>
              <a:ahLst/>
              <a:cxnLst/>
              <a:rect l="l" t="t" r="r" b="b"/>
              <a:pathLst>
                <a:path w="1699021" h="677725">
                  <a:moveTo>
                    <a:pt x="61206" y="0"/>
                  </a:moveTo>
                  <a:lnTo>
                    <a:pt x="1637815" y="0"/>
                  </a:lnTo>
                  <a:cubicBezTo>
                    <a:pt x="1654047" y="0"/>
                    <a:pt x="1669616" y="6448"/>
                    <a:pt x="1681094" y="17927"/>
                  </a:cubicBezTo>
                  <a:cubicBezTo>
                    <a:pt x="1692572" y="29405"/>
                    <a:pt x="1699021" y="44973"/>
                    <a:pt x="1699021" y="61206"/>
                  </a:cubicBezTo>
                  <a:lnTo>
                    <a:pt x="1699021" y="616519"/>
                  </a:lnTo>
                  <a:cubicBezTo>
                    <a:pt x="1699021" y="632752"/>
                    <a:pt x="1692572" y="648320"/>
                    <a:pt x="1681094" y="659799"/>
                  </a:cubicBezTo>
                  <a:cubicBezTo>
                    <a:pt x="1669616" y="671277"/>
                    <a:pt x="1654047" y="677725"/>
                    <a:pt x="1637815" y="677725"/>
                  </a:cubicBezTo>
                  <a:lnTo>
                    <a:pt x="61206" y="677725"/>
                  </a:lnTo>
                  <a:cubicBezTo>
                    <a:pt x="27403" y="677725"/>
                    <a:pt x="0" y="650323"/>
                    <a:pt x="0" y="616519"/>
                  </a:cubicBezTo>
                  <a:lnTo>
                    <a:pt x="0" y="61206"/>
                  </a:lnTo>
                  <a:cubicBezTo>
                    <a:pt x="0" y="44973"/>
                    <a:pt x="6448" y="29405"/>
                    <a:pt x="17927" y="17927"/>
                  </a:cubicBezTo>
                  <a:cubicBezTo>
                    <a:pt x="29405" y="6448"/>
                    <a:pt x="44973" y="0"/>
                    <a:pt x="61206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99021" cy="71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73349" y="7284531"/>
            <a:ext cx="5497475" cy="157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latsi"/>
                <a:cs typeface="Times New Roman" panose="02020603050405020304" pitchFamily="18" charset="0"/>
                <a:sym typeface="Alatsi"/>
              </a:rPr>
              <a:t>We asked people to send some basic information saying that it was needed for updating their account </a:t>
            </a:r>
          </a:p>
        </p:txBody>
      </p:sp>
      <p:sp>
        <p:nvSpPr>
          <p:cNvPr id="15" name="AutoShape 15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085086" y="-104525"/>
            <a:ext cx="5404" cy="739396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8" name="Group 1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-1368223" y="-87458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72122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32E3CF-BF24-4CCE-A499-90A1450A1023}"/>
              </a:ext>
            </a:extLst>
          </p:cNvPr>
          <p:cNvSpPr txBox="1"/>
          <p:nvPr/>
        </p:nvSpPr>
        <p:spPr>
          <a:xfrm>
            <a:off x="2889005" y="3773974"/>
            <a:ext cx="54974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sent emails to people, pretending to be trusted delivery organizations, to test how easily they could be tricked.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485E89-CAB4-407A-9A92-74AF69A614B5}"/>
              </a:ext>
            </a:extLst>
          </p:cNvPr>
          <p:cNvSpPr txBox="1"/>
          <p:nvPr/>
        </p:nvSpPr>
        <p:spPr>
          <a:xfrm>
            <a:off x="2362200" y="619729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latsi" panose="020B0604020202020204" charset="0"/>
              </a:rPr>
              <a:t>Fake Bank Account Update Email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1D429D-C944-4647-B7C9-BC55215AA7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38" t="13526" r="5729"/>
          <a:stretch/>
        </p:blipFill>
        <p:spPr>
          <a:xfrm>
            <a:off x="9409079" y="3279774"/>
            <a:ext cx="8277767" cy="4863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7A32631-26E2-41A0-A7EF-7D72C1D45586}"/>
                  </a:ext>
                </a:extLst>
              </p14:cNvPr>
              <p14:cNvContentPartPr/>
              <p14:nvPr/>
            </p14:nvContentPartPr>
            <p14:xfrm>
              <a:off x="10194840" y="4294440"/>
              <a:ext cx="653760" cy="80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7A32631-26E2-41A0-A7EF-7D72C1D455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77200" y="4276440"/>
                <a:ext cx="6894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B210504-7F2F-4206-9630-B01FF72B6879}"/>
                  </a:ext>
                </a:extLst>
              </p14:cNvPr>
              <p14:cNvContentPartPr/>
              <p14:nvPr/>
            </p14:nvContentPartPr>
            <p14:xfrm>
              <a:off x="10200960" y="4289760"/>
              <a:ext cx="651240" cy="99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B210504-7F2F-4206-9630-B01FF72B68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82960" y="4272120"/>
                <a:ext cx="686880" cy="13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9436" y="912518"/>
            <a:ext cx="16230600" cy="136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FAKE LAPTOP SCHEME FORM</a:t>
            </a:r>
          </a:p>
        </p:txBody>
      </p:sp>
      <p:sp>
        <p:nvSpPr>
          <p:cNvPr id="9" name="Freeform 9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844665" y="9080317"/>
            <a:ext cx="1169076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C2B6E-0A97-4204-A1A5-D4B61BF3F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60726"/>
            <a:ext cx="6450127" cy="3687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7F2E37-FAA4-4794-BED4-DFD3B4411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2863571"/>
            <a:ext cx="6858000" cy="5480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ECE0C3-4F50-42B0-85BE-C75B27BAC8F4}"/>
                  </a:ext>
                </a:extLst>
              </p14:cNvPr>
              <p14:cNvContentPartPr/>
              <p14:nvPr/>
            </p14:nvContentPartPr>
            <p14:xfrm>
              <a:off x="9278640" y="5116680"/>
              <a:ext cx="1481400" cy="156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ECE0C3-4F50-42B0-85BE-C75B27BAC8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60640" y="5098680"/>
                <a:ext cx="1517040" cy="1922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0D255A7-4585-4AAC-938A-32E426E452BE}"/>
              </a:ext>
            </a:extLst>
          </p:cNvPr>
          <p:cNvSpPr txBox="1"/>
          <p:nvPr/>
        </p:nvSpPr>
        <p:spPr>
          <a:xfrm>
            <a:off x="2087306" y="3917683"/>
            <a:ext cx="49992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created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fake form for the Prime Minister Laptop Scheme and sent it to our class group. A total of 18 people fell for it entered their information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844665" y="9080317"/>
            <a:ext cx="1169076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28700" y="3056648"/>
            <a:ext cx="5246391" cy="5246370"/>
            <a:chOff x="0" y="0"/>
            <a:chExt cx="6350025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SMISHING 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982801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64890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13085-3B0A-444D-9081-18001D9EE8D9}"/>
              </a:ext>
            </a:extLst>
          </p:cNvPr>
          <p:cNvSpPr txBox="1"/>
          <p:nvPr/>
        </p:nvSpPr>
        <p:spPr>
          <a:xfrm>
            <a:off x="7162800" y="3586805"/>
            <a:ext cx="9677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Request: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Asked our classmates for passwords to access university email accounts.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Impersonation: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Pretended to be our teacher and asked a student for project details via text.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Request: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new number to impersonate a friend in need and asked for money.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30000" y="-5558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805</Words>
  <Application>Microsoft Office PowerPoint</Application>
  <PresentationFormat>Custom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Alatsi</vt:lpstr>
      <vt:lpstr>Times New Roman</vt:lpstr>
      <vt:lpstr>Open Sans Bold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Pastel Minimalist Thesis Defense Presentation</dc:title>
  <dc:creator>pc</dc:creator>
  <cp:lastModifiedBy>User</cp:lastModifiedBy>
  <cp:revision>13</cp:revision>
  <dcterms:created xsi:type="dcterms:W3CDTF">2006-08-16T00:00:00Z</dcterms:created>
  <dcterms:modified xsi:type="dcterms:W3CDTF">2026-03-10T09:44:55Z</dcterms:modified>
  <dc:identifier>DAGa8c7dkyE</dc:identifier>
</cp:coreProperties>
</file>